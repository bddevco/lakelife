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b77c8ed0c84835" /><Relationship Type="http://schemas.openxmlformats.org/officeDocument/2006/relationships/extended-properties" Target="/docProps/app.xml" Id="Rec57042a11af4b39" /><Relationship Type="http://schemas.openxmlformats.org/officeDocument/2006/relationships/officeDocument" Target="/ppt/presentation.xml" Id="R27ff2b6f67844b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3e9f9741e2456f"/>
  </p:sldMasterIdLst>
  <p:notesMasterIdLst>
    <p:notesMasterId xmlns:r="http://schemas.openxmlformats.org/officeDocument/2006/relationships" r:id="Raef91dc4ca594377"/>
  </p:notesMasterIdLst>
  <p:sldIdLst>
    <p:sldId xmlns:r="http://schemas.openxmlformats.org/officeDocument/2006/relationships" id="256" r:id="R50e68c81d3d64957"/>
    <p:sldId xmlns:r="http://schemas.openxmlformats.org/officeDocument/2006/relationships" id="257" r:id="R7ce8d932063c487a"/>
    <p:sldId xmlns:r="http://schemas.openxmlformats.org/officeDocument/2006/relationships" id="258" r:id="R64b70b2462e84c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9f86d0085a41dc" /><Relationship Type="http://schemas.openxmlformats.org/officeDocument/2006/relationships/slideMaster" Target="/ppt/slideMasters/slideMaster1.xml" Id="R1d3e9f9741e2456f" /><Relationship Type="http://schemas.openxmlformats.org/officeDocument/2006/relationships/notesMaster" Target="/ppt/notesMasters/notesMaster1.xml" Id="Raef91dc4ca594377" /><Relationship Type="http://schemas.openxmlformats.org/officeDocument/2006/relationships/presProps" Target="/ppt/presProps.xml" Id="R6f704f823e604e9d" /><Relationship Type="http://schemas.openxmlformats.org/officeDocument/2006/relationships/tableStyles" Target="/ppt/tableStyles.xml" Id="R9c7e292fae164a50" /><Relationship Type="http://schemas.openxmlformats.org/officeDocument/2006/relationships/slide" Target="/ppt/slides/slide1.xml" Id="R50e68c81d3d64957" /><Relationship Type="http://schemas.openxmlformats.org/officeDocument/2006/relationships/slide" Target="/ppt/slides/slide2.xml" Id="R7ce8d932063c487a" /><Relationship Type="http://schemas.openxmlformats.org/officeDocument/2006/relationships/slide" Target="/ppt/slides/slide3.xml" Id="R64b70b2462e84c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8d54a7449a44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e8be5f5dac447e" /><Relationship Type="http://schemas.openxmlformats.org/officeDocument/2006/relationships/notesMaster" Target="/ppt/notesMasters/notesMaster1.xml" Id="R605d72ec6fbc41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70a02b128f40bd" /><Relationship Type="http://schemas.openxmlformats.org/officeDocument/2006/relationships/notesMaster" Target="/ppt/notesMasters/notesMaster1.xml" Id="R9f94d94b9daf48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6ae465a5864256" /><Relationship Type="http://schemas.openxmlformats.org/officeDocument/2006/relationships/notesMaster" Target="/ppt/notesMasters/notesMaster1.xml" Id="Rde9182babc064d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LakeLife is for mobile-home and RV park owners who want the money record and property work in the same place. Bills can be raised by lot on a schedule. Shared expenses can be allocated to the lots that carry them. Cash and checks are recorded and confirmed. Crew work has a photo requirement before completion. Ask which part takes the most chasing today.</a:t>
            </a:r>
          </a:p>
          <a:p xmlns:a="http://schemas.openxmlformats.org/drawingml/2006/main">
            <a:r>
              <a:t>Sources: src/app/for-parks/page.tsx (current public product copy), src/components/Brand.tsx and lakelife.html (original artwork and identity). Local sources reviewed 17 October 2026. No automatic card collection, savings figures, adoption statistics or payment-processing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a lake homeowner, lead with one service they already need. LakeLife brings the service price, booking and property record together. A job needs the required completion photos. If a crew proposes a profile correction that changes pricing, the homeowner approves it first. Seasonal water work depends on lake conditions, and availability depends on local crew coverage.</a:t>
            </a:r>
          </a:p>
          <a:p xmlns:a="http://schemas.openxmlformats.org/drawingml/2006/main">
            <a:r>
              <a:t>Sources: src/app/page.tsx; src/app/book/actions.ts; src/app/book/page.tsx; src/app/vendor/actions.ts; src/app/approvals/actions.ts. Current pricing permits an unpriced request awaiting a crew quote. The original prototype supplies visuals only; old universal 30% economics are superseded on crew-priced work. Local sources reviewed 17 October 2026. The imagery is original prototype service artwork, not job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conversation about their actual property or park. For park owners, show the lot, rent and shared-cost workflow and discuss the service needs. For homeowners, start with one relevant service. Review pricing status, scope and available crews. Some requests await a crew quote. A requested date is not a confirmed appointment. The next step is LakeLife.ai. Park inquiries are at https://www.lakelife.ai/for-parks.</a:t>
            </a:r>
          </a:p>
          <a:p xmlns:a="http://schemas.openxmlformats.org/drawingml/2006/main">
            <a:r>
              <a:t>Sources: src/app/for-parks/page.tsx (guided setup and local crew onboarding), src/app/page.tsx (homeowner flow), user confirmation of LakeLife.ai on 17 October 2026. No free trial, fixed setup time or automatic payments are promised.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12014a6f3241f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02fff9361547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bcc82efefd40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9fde1c452749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c03491a5a145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aaeb98c8064a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02A60C-DD54-4E05-B0A2-EA4C3B91BC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7620F9-C296-447B-BEE5-00022C1AE1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A3FF1AC-FA0D-4296-9B4F-5852C2AE92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7B0815-69E9-403A-B369-E2E1F41E74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2A2201F-5F83-44E4-BDC8-1EF1194DFE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111654-E975-4F81-AF6D-D617666280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33232C-A880-4286-A8CC-EC3241030F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A0D08DA-B0B6-49B7-B8B2-2F0DDB1657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529E11-0624-42F2-AA51-7D19F82934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AE2E9C-CC59-4DBD-86E9-8FDD6AC1A7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d219a48476442e" /><Relationship Type="http://schemas.openxmlformats.org/officeDocument/2006/relationships/slideLayout" Target="/ppt/slideLayouts/slideLayout1.xml" Id="R8e71929e2bbb4844" /><Relationship Type="http://schemas.openxmlformats.org/officeDocument/2006/relationships/slideLayout" Target="/ppt/slideLayouts/slideLayout2.xml" Id="Rfab5b8de6e104428" /><Relationship Type="http://schemas.openxmlformats.org/officeDocument/2006/relationships/slideLayout" Target="/ppt/slideLayouts/slideLayout3.xml" Id="R37c423090f40479e" /><Relationship Type="http://schemas.openxmlformats.org/officeDocument/2006/relationships/slideLayout" Target="/ppt/slideLayouts/slideLayout4.xml" Id="R7348dc8f1e3e486d" /><Relationship Type="http://schemas.openxmlformats.org/officeDocument/2006/relationships/slideLayout" Target="/ppt/slideLayouts/slideLayout5.xml" Id="Rdc435bfe96a14765" /><Relationship Type="http://schemas.openxmlformats.org/officeDocument/2006/relationships/slideLayout" Target="/ppt/slideLayouts/slideLayout6.xml" Id="R2ae1916b00624e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71929e2bbb4844"/>
    <p:sldLayoutId xmlns:r="http://schemas.openxmlformats.org/officeDocument/2006/relationships" id="2147483650" r:id="Rfab5b8de6e104428"/>
    <p:sldLayoutId xmlns:r="http://schemas.openxmlformats.org/officeDocument/2006/relationships" id="2147483651" r:id="R37c423090f40479e"/>
    <p:sldLayoutId xmlns:r="http://schemas.openxmlformats.org/officeDocument/2006/relationships" id="2147483652" r:id="R7348dc8f1e3e486d"/>
    <p:sldLayoutId xmlns:r="http://schemas.openxmlformats.org/officeDocument/2006/relationships" id="2147483653" r:id="Rdc435bfe96a14765"/>
    <p:sldLayoutId xmlns:r="http://schemas.openxmlformats.org/officeDocument/2006/relationships" id="2147483654" r:id="R2ae1916b00624e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834ad22b5f4acf" /><Relationship Type="http://schemas.openxmlformats.org/officeDocument/2006/relationships/image" Target="/ppt/media/image.png" Id="R86da0ec073d94e2b" /><Relationship Type="http://schemas.openxmlformats.org/officeDocument/2006/relationships/image" Target="/ppt/media/image2.png" Id="Ra54c4f0775414587" /><Relationship Type="http://schemas.openxmlformats.org/officeDocument/2006/relationships/image" Target="/ppt/media/image3.png" Id="R6afea8893ea04ad8" /><Relationship Type="http://schemas.openxmlformats.org/officeDocument/2006/relationships/notesSlide" Target="/ppt/notesSlides/notesSlide1.xml" Id="Rb79f269a1dbf43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f08e84338b4268" /><Relationship Type="http://schemas.openxmlformats.org/officeDocument/2006/relationships/image" Target="/ppt/media/image4.png" Id="R16c16ff868c1407c" /><Relationship Type="http://schemas.openxmlformats.org/officeDocument/2006/relationships/image" Target="/ppt/media/image5.png" Id="R36eddeb0d4084591" /><Relationship Type="http://schemas.openxmlformats.org/officeDocument/2006/relationships/image" Target="/ppt/media/image6.png" Id="R75637e379d2047da" /><Relationship Type="http://schemas.openxmlformats.org/officeDocument/2006/relationships/image" Target="/ppt/media/image7.png" Id="R5e74fc84b50c4b57" /><Relationship Type="http://schemas.openxmlformats.org/officeDocument/2006/relationships/image" Target="/ppt/media/image8.png" Id="Rebc2d5c57c2f4ea8" /><Relationship Type="http://schemas.openxmlformats.org/officeDocument/2006/relationships/image" Target="/ppt/media/image9.png" Id="Rab33a60b37ab481e" /><Relationship Type="http://schemas.openxmlformats.org/officeDocument/2006/relationships/notesSlide" Target="/ppt/notesSlides/notesSlide2.xml" Id="Rdfebf2b5c4f846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46265145794dbe" /><Relationship Type="http://schemas.openxmlformats.org/officeDocument/2006/relationships/image" Target="/ppt/media/image10.png" Id="R74686c9aacfa4a78" /><Relationship Type="http://schemas.openxmlformats.org/officeDocument/2006/relationships/hyperlink" Target="https://www.lakelife.ai" TargetMode="External" Id="R563eee669ae94721" /><Relationship Type="http://schemas.openxmlformats.org/officeDocument/2006/relationships/image" Target="/ppt/media/image11.png" Id="Re7621e3cd4324bf5" /><Relationship Type="http://schemas.openxmlformats.org/officeDocument/2006/relationships/notesSlide" Target="/ppt/notesSlides/notesSlide3.xml" Id="R970d8c2541a248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4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A6D46-00CF-4033-9E0A-EF7AB47FBC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a0ec073d94e2b"/>
          <a:stretch xmlns:a="http://schemas.openxmlformats.org/drawingml/2006/main"/>
        </p:blipFill>
        <p:spPr>
          <a:xfrm xmlns:a="http://schemas.openxmlformats.org/drawingml/2006/main">
            <a:off x="6477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Lake">
            <a:extLst xmlns:a="http://schemas.openxmlformats.org/drawingml/2006/main">
              <a:ext uri="{FF2B5EF4-FFF2-40B4-BE49-F238E27FC236}">
                <a16:creationId xmlns:a16="http://schemas.microsoft.com/office/drawing/2014/main" id="{CA7BAA09-D671-4D5D-AFBD-979810FA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rPr>
              <a:t>Lake</a:t>
            </a:r>
          </a:p>
        </p:txBody>
      </p:sp>
      <p:sp>
        <p:nvSpPr>
          <p:cNvPr id="3" name="Life">
            <a:extLst xmlns:a="http://schemas.openxmlformats.org/drawingml/2006/main">
              <a:ext uri="{FF2B5EF4-FFF2-40B4-BE49-F238E27FC236}">
                <a16:creationId xmlns:a16="http://schemas.microsoft.com/office/drawing/2014/main" id="{BF653538-4F88-4D06-8989-C1B942F7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8150"/>
            <a:ext cx="638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rPr>
              <a:t>Life</a:t>
            </a:r>
          </a:p>
        </p:txBody>
      </p:sp>
      <p:sp>
        <p:nvSpPr>
          <p:cNvPr id="4" name="FOR MOBILE-HOME &amp; RV PARK OWNERS">
            <a:extLst xmlns:a="http://schemas.openxmlformats.org/drawingml/2006/main">
              <a:ext uri="{FF2B5EF4-FFF2-40B4-BE49-F238E27FC236}">
                <a16:creationId xmlns:a16="http://schemas.microsoft.com/office/drawing/2014/main" id="{64247DDC-3E42-4B0C-AE04-B028F7C3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E9B44C"/>
                </a:solidFill>
                <a:latin typeface="Manrope"/>
                <a:ea typeface="Manrope"/>
                <a:cs typeface="Manrope"/>
              </a:rPr>
              <a:t>FOR MOBILE-HOME &amp; RV PARK OWNERS</a:t>
            </a:r>
          </a:p>
        </p:txBody>
      </p:sp>
      <p:sp>
        <p:nvSpPr>
          <p:cNvPr id="5" name="Your park,">
            <a:extLst xmlns:a="http://schemas.openxmlformats.org/drawingml/2006/main">
              <a:ext uri="{FF2B5EF4-FFF2-40B4-BE49-F238E27FC236}">
                <a16:creationId xmlns:a16="http://schemas.microsoft.com/office/drawing/2014/main" id="{DE97FA1E-3062-4F79-83A9-C1B10212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defPPr>
          </a:lstStyle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rPr>
              <a:t>Your park,</a:t>
            </a:r>
          </a:p>
        </p:txBody>
      </p:sp>
      <p:sp>
        <p:nvSpPr>
          <p:cNvPr id="6" name="in one place">
            <a:extLst xmlns:a="http://schemas.openxmlformats.org/drawingml/2006/main">
              <a:ext uri="{FF2B5EF4-FFF2-40B4-BE49-F238E27FC236}">
                <a16:creationId xmlns:a16="http://schemas.microsoft.com/office/drawing/2014/main" id="{DF16A1DA-1E45-444C-957A-FB5850A5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762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defPPr>
          </a:lstStyle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rPr>
              <a:t>in one place</a:t>
            </a:r>
          </a:p>
        </p:txBody>
      </p:sp>
      <p:sp>
        <p:nvSpPr>
          <p:cNvPr id="7" name="Rent records, shared costs and crew work">
            <a:extLst xmlns:a="http://schemas.openxmlformats.org/drawingml/2006/main">
              <a:ext uri="{FF2B5EF4-FFF2-40B4-BE49-F238E27FC236}">
                <a16:creationId xmlns:a16="http://schemas.microsoft.com/office/drawing/2014/main" id="{F541F863-E1C6-481F-8051-A7D1747C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BFE3E8"/>
                </a:solidFill>
                <a:latin typeface="Manrope"/>
                <a:ea typeface="Manrope"/>
                <a:cs typeface="Manrope"/>
              </a:rPr>
              <a:t>Rent records, shared costs and crew work.</a:t>
            </a:r>
          </a:p>
        </p:txBody>
      </p:sp>
      <p:sp>
        <p:nvSpPr>
          <p:cNvPr id="8" name="A clearer view of what is owed and what ">
            <a:extLst xmlns:a="http://schemas.openxmlformats.org/drawingml/2006/main">
              <a:ext uri="{FF2B5EF4-FFF2-40B4-BE49-F238E27FC236}">
                <a16:creationId xmlns:a16="http://schemas.microsoft.com/office/drawing/2014/main" id="{68407A60-FFBE-4C14-8FB4-E195DEB9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BFE3E8"/>
                </a:solidFill>
                <a:latin typeface="Manrope"/>
                <a:ea typeface="Manrope"/>
                <a:cs typeface="Manrope"/>
              </a:rPr>
              <a:t>A clearer view of what is owed and what needs doing.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5B173-4162-49DC-B887-92B39A7AAA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4c4f0775414587"/>
          <a:stretch xmlns:a="http://schemas.openxmlformats.org/drawingml/2006/main"/>
        </p:blipFill>
        <p:spPr>
          <a:xfrm xmlns:a="http://schemas.openxmlformats.org/drawingml/2006/main">
            <a:off x="9048750" y="1562100"/>
            <a:ext cx="2266950" cy="2266950"/>
          </a:xfrm>
          <a:prstGeom xmlns:a="http://schemas.openxmlformats.org/drawingml/2006/main" prst="rect">
            <a:avLst/>
          </a:prstGeom>
        </p:spPr>
      </p:pic>
      <p:sp>
        <p:nvSpPr>
          <p:cNvPr id="10" name="Scheduled bills by lot">
            <a:extLst xmlns:a="http://schemas.openxmlformats.org/drawingml/2006/main">
              <a:ext uri="{FF2B5EF4-FFF2-40B4-BE49-F238E27FC236}">
                <a16:creationId xmlns:a16="http://schemas.microsoft.com/office/drawing/2014/main" id="{4968C646-E21D-41F5-AFE9-4EBC1CB7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4827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Scheduled bills by lot</a:t>
            </a:r>
          </a:p>
        </p:txBody>
      </p:sp>
      <p:sp>
        <p:nvSpPr>
          <p:cNvPr id="11" name="Shared cost records">
            <a:extLst xmlns:a="http://schemas.openxmlformats.org/drawingml/2006/main">
              <a:ext uri="{FF2B5EF4-FFF2-40B4-BE49-F238E27FC236}">
                <a16:creationId xmlns:a16="http://schemas.microsoft.com/office/drawing/2014/main" id="{2019FB3B-5DE8-4261-B7BA-D076F2AA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482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Shared cost records</a:t>
            </a:r>
          </a:p>
        </p:txBody>
      </p:sp>
      <p:sp>
        <p:nvSpPr>
          <p:cNvPr id="12" name="Work completion photos">
            <a:extLst xmlns:a="http://schemas.openxmlformats.org/drawingml/2006/main">
              <a:ext uri="{FF2B5EF4-FFF2-40B4-BE49-F238E27FC236}">
                <a16:creationId xmlns:a16="http://schemas.microsoft.com/office/drawing/2014/main" id="{CF0D9308-95EA-42D9-9434-6CB7A0CE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4827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Work completion photos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3708E-C83B-461F-BBA0-068F99F2E1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fea8893ea04ad8"/>
          <a:stretch xmlns:a="http://schemas.openxmlformats.org/drawingml/2006/main"/>
        </p:blipFill>
        <p:spPr>
          <a:xfrm xmlns:a="http://schemas.openxmlformats.org/drawingml/2006/main">
            <a:off x="0" y="5926138"/>
            <a:ext cx="12192000" cy="9302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2880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Dark brand band">
            <a:extLst xmlns:a="http://schemas.openxmlformats.org/drawingml/2006/main">
              <a:ext uri="{FF2B5EF4-FFF2-40B4-BE49-F238E27FC236}">
                <a16:creationId xmlns:a16="http://schemas.microsoft.com/office/drawing/2014/main" id="{70BD63C3-E12F-4FBF-A96B-29EA4E5B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114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430"/>
          </a:solidFill>
          <a:ln xmlns:a="http://schemas.openxmlformats.org/drawingml/2006/main" w="0">
            <a:noFill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43CB6-F0AF-4027-AF6C-5788A91930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c16ff868c1407c"/>
          <a:stretch xmlns:a="http://schemas.openxmlformats.org/drawingml/2006/main"/>
        </p:blipFill>
        <p:spPr>
          <a:xfrm xmlns:a="http://schemas.openxmlformats.org/drawingml/2006/main">
            <a:off x="6477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" name="Lake">
            <a:extLst xmlns:a="http://schemas.openxmlformats.org/drawingml/2006/main">
              <a:ext uri="{FF2B5EF4-FFF2-40B4-BE49-F238E27FC236}">
                <a16:creationId xmlns:a16="http://schemas.microsoft.com/office/drawing/2014/main" id="{C3649251-44CF-4523-AF2C-426515C9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rPr>
              <a:t>Lake</a:t>
            </a:r>
          </a:p>
        </p:txBody>
      </p:sp>
      <p:sp>
        <p:nvSpPr>
          <p:cNvPr id="4" name="Life">
            <a:extLst xmlns:a="http://schemas.openxmlformats.org/drawingml/2006/main">
              <a:ext uri="{FF2B5EF4-FFF2-40B4-BE49-F238E27FC236}">
                <a16:creationId xmlns:a16="http://schemas.microsoft.com/office/drawing/2014/main" id="{39152262-0C6D-4672-A302-2E9CD42F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8150"/>
            <a:ext cx="638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rPr>
              <a:t>Life</a:t>
            </a:r>
          </a:p>
        </p:txBody>
      </p:sp>
      <p:sp>
        <p:nvSpPr>
          <p:cNvPr id="5" name="FOR LAKE HOMEOWNERS">
            <a:extLst xmlns:a="http://schemas.openxmlformats.org/drawingml/2006/main">
              <a:ext uri="{FF2B5EF4-FFF2-40B4-BE49-F238E27FC236}">
                <a16:creationId xmlns:a16="http://schemas.microsoft.com/office/drawing/2014/main" id="{85C4B677-FFC8-4FD7-B6E4-3B86AD39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137A8C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37A8C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137A8C"/>
                </a:solidFill>
                <a:latin typeface="Manrope"/>
                <a:ea typeface="Manrope"/>
                <a:cs typeface="Manrope"/>
              </a:rPr>
              <a:t>FOR LAKE HOMEOWNERS</a:t>
            </a:r>
          </a:p>
        </p:txBody>
      </p:sp>
      <p:sp>
        <p:nvSpPr>
          <p:cNvPr id="6" name="Your lake house,">
            <a:extLst xmlns:a="http://schemas.openxmlformats.org/drawingml/2006/main">
              <a:ext uri="{FF2B5EF4-FFF2-40B4-BE49-F238E27FC236}">
                <a16:creationId xmlns:a16="http://schemas.microsoft.com/office/drawing/2014/main" id="{2D2486CC-EB13-421B-AE74-AF041046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rPr>
              <a:t>Your lake house,</a:t>
            </a:r>
          </a:p>
        </p:txBody>
      </p:sp>
      <p:sp>
        <p:nvSpPr>
          <p:cNvPr id="7" name="ready when you are">
            <a:extLst xmlns:a="http://schemas.openxmlformats.org/drawingml/2006/main">
              <a:ext uri="{FF2B5EF4-FFF2-40B4-BE49-F238E27FC236}">
                <a16:creationId xmlns:a16="http://schemas.microsoft.com/office/drawing/2014/main" id="{2FEC6458-FEF9-4FF3-B43B-4210EF1B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rPr>
              <a:t>ready when you are</a:t>
            </a:r>
          </a:p>
        </p:txBody>
      </p:sp>
      <p:sp>
        <p:nvSpPr>
          <p:cNvPr id="8" name="Know the pricing status">
            <a:extLst xmlns:a="http://schemas.openxmlformats.org/drawingml/2006/main">
              <a:ext uri="{FF2B5EF4-FFF2-40B4-BE49-F238E27FC236}">
                <a16:creationId xmlns:a16="http://schemas.microsoft.com/office/drawing/2014/main" id="{13D5E216-915E-4633-B8AA-25FEF79B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338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A2430"/>
                </a:solidFill>
                <a:latin typeface="Manrope"/>
                <a:ea typeface="Manrope"/>
                <a:cs typeface="Manrope"/>
              </a:rPr>
              <a:t>Know the pricing status</a:t>
            </a:r>
          </a:p>
        </p:txBody>
      </p:sp>
      <p:sp>
        <p:nvSpPr>
          <p:cNvPr id="9" name="See the price before&#10;anything is charged">
            <a:extLst xmlns:a="http://schemas.openxmlformats.org/drawingml/2006/main">
              <a:ext uri="{FF2B5EF4-FFF2-40B4-BE49-F238E27FC236}">
                <a16:creationId xmlns:a16="http://schemas.microsoft.com/office/drawing/2014/main" id="{F944A230-CA85-4D7B-A359-90D91759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90975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5D7681"/>
                </a:solidFill>
                <a:latin typeface="Manrope"/>
                <a:ea typeface="Manrope"/>
                <a:cs typeface="Manrope"/>
              </a:rPr>
              <a:t>See the price before</a:t>
            </a:r>
          </a:p>
          <a:p xmlns:a="http://schemas.openxmlformats.org/drawingml/2006/main">
            <a: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5D7681"/>
                </a:solidFill>
                <a:latin typeface="Manrope"/>
                <a:ea typeface="Manrope"/>
                <a:cs typeface="Manrope"/>
              </a:rPr>
              <a:t>anything is charged.</a:t>
            </a:r>
          </a:p>
        </p:txBody>
      </p:sp>
      <p:sp>
        <p:nvSpPr>
          <p:cNvPr id="10" name="Photos of finished work">
            <a:extLst xmlns:a="http://schemas.openxmlformats.org/drawingml/2006/main">
              <a:ext uri="{FF2B5EF4-FFF2-40B4-BE49-F238E27FC236}">
                <a16:creationId xmlns:a16="http://schemas.microsoft.com/office/drawing/2014/main" id="{7E90894E-D709-4E0A-A823-5368D86D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14725"/>
            <a:ext cx="338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A2430"/>
                </a:solidFill>
                <a:latin typeface="Manrope"/>
                <a:ea typeface="Manrope"/>
                <a:cs typeface="Manrope"/>
              </a:rPr>
              <a:t>Photos of finished work</a:t>
            </a:r>
          </a:p>
        </p:txBody>
      </p:sp>
      <p:sp>
        <p:nvSpPr>
          <p:cNvPr id="11" name="See the work in your&#10;property record.">
            <a:extLst xmlns:a="http://schemas.openxmlformats.org/drawingml/2006/main">
              <a:ext uri="{FF2B5EF4-FFF2-40B4-BE49-F238E27FC236}">
                <a16:creationId xmlns:a16="http://schemas.microsoft.com/office/drawing/2014/main" id="{8B2B2A6A-DF23-4FEC-AFBE-2D84C422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90975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5D7681"/>
                </a:solidFill>
                <a:latin typeface="Manrope"/>
                <a:ea typeface="Manrope"/>
                <a:cs typeface="Manrope"/>
              </a:rPr>
              <a:t>See the work in your</a:t>
            </a:r>
          </a:p>
          <a:p xmlns:a="http://schemas.openxmlformats.org/drawingml/2006/main">
            <a: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5D7681"/>
                </a:solidFill>
                <a:latin typeface="Manrope"/>
                <a:ea typeface="Manrope"/>
                <a:cs typeface="Manrope"/>
              </a:rPr>
              <a:t>property record.</a:t>
            </a:r>
          </a:p>
        </p:txBody>
      </p:sp>
      <p:sp>
        <p:nvSpPr>
          <p:cNvPr id="12" name="You review corrections">
            <a:extLst xmlns:a="http://schemas.openxmlformats.org/drawingml/2006/main">
              <a:ext uri="{FF2B5EF4-FFF2-40B4-BE49-F238E27FC236}">
                <a16:creationId xmlns:a16="http://schemas.microsoft.com/office/drawing/2014/main" id="{05D7F9B6-A27D-40A9-BCC4-596BF347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14725"/>
            <a:ext cx="338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A2430"/>
                </a:solidFill>
                <a:latin typeface="Manrope"/>
                <a:ea typeface="Manrope"/>
                <a:cs typeface="Manrope"/>
              </a:rPr>
              <a:t>You review corrections</a:t>
            </a:r>
          </a:p>
        </p:txBody>
      </p:sp>
      <p:sp>
        <p:nvSpPr>
          <p:cNvPr id="13" name="Approve profile changes&#10;before they affe">
            <a:extLst xmlns:a="http://schemas.openxmlformats.org/drawingml/2006/main">
              <a:ext uri="{FF2B5EF4-FFF2-40B4-BE49-F238E27FC236}">
                <a16:creationId xmlns:a16="http://schemas.microsoft.com/office/drawing/2014/main" id="{B8EEE28B-2502-4C60-9953-56F4EA1B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90975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5D7681"/>
                </a:solidFill>
                <a:latin typeface="Manrope"/>
                <a:ea typeface="Manrope"/>
                <a:cs typeface="Manrope"/>
              </a:rPr>
              <a:t>Approve profile changes</a:t>
            </a:r>
          </a:p>
          <a:p xmlns:a="http://schemas.openxmlformats.org/drawingml/2006/main">
            <a: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5D7681"/>
                </a:solidFill>
                <a:latin typeface="Manrope"/>
                <a:ea typeface="Manrope"/>
                <a:cs typeface="Manrope"/>
              </a:rPr>
              <a:t>before they affect the bill.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7AD92-842A-459E-9901-61F1F6C58E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ddeb0d4084591"/>
          <a:stretch xmlns:a="http://schemas.openxmlformats.org/drawingml/2006/main"/>
        </p:blipFill>
        <p:spPr>
          <a:xfrm xmlns:a="http://schemas.openxmlformats.org/drawingml/2006/main">
            <a:off x="666750" y="5088996"/>
            <a:ext cx="1047750" cy="651933"/>
          </a:xfrm>
          <a:prstGeom xmlns:a="http://schemas.openxmlformats.org/drawingml/2006/main" prst="rect">
            <a:avLst/>
          </a:prstGeom>
        </p:spPr>
      </p:pic>
      <p:sp>
        <p:nvSpPr>
          <p:cNvPr id="15" name="Opening &amp; closing">
            <a:extLst xmlns:a="http://schemas.openxmlformats.org/drawingml/2006/main">
              <a:ext uri="{FF2B5EF4-FFF2-40B4-BE49-F238E27FC236}">
                <a16:creationId xmlns:a16="http://schemas.microsoft.com/office/drawing/2014/main" id="{D7937F37-CF1E-4C04-A7A0-56F4FE1B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0A2430"/>
                </a:solidFill>
                <a:latin typeface="Manrope"/>
                <a:ea typeface="Manrope"/>
                <a:cs typeface="Manrope"/>
              </a:rPr>
              <a:t>Opening &amp; closing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EE55F-1BDF-41ED-93D9-1157CCA845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637e379d2047da"/>
          <a:stretch xmlns:a="http://schemas.openxmlformats.org/drawingml/2006/main"/>
        </p:blipFill>
        <p:spPr>
          <a:xfrm xmlns:a="http://schemas.openxmlformats.org/drawingml/2006/main">
            <a:off x="2952750" y="5088996"/>
            <a:ext cx="1047750" cy="651933"/>
          </a:xfrm>
          <a:prstGeom xmlns:a="http://schemas.openxmlformats.org/drawingml/2006/main" prst="rect">
            <a:avLst/>
          </a:prstGeom>
        </p:spPr>
      </p:pic>
      <p:sp>
        <p:nvSpPr>
          <p:cNvPr id="17" name="Piers &amp; lifts">
            <a:extLst xmlns:a="http://schemas.openxmlformats.org/drawingml/2006/main">
              <a:ext uri="{FF2B5EF4-FFF2-40B4-BE49-F238E27FC236}">
                <a16:creationId xmlns:a16="http://schemas.microsoft.com/office/drawing/2014/main" id="{88D0C709-7AE1-4A93-9C92-324844AC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38825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0A2430"/>
                </a:solidFill>
                <a:latin typeface="Manrope"/>
                <a:ea typeface="Manrope"/>
                <a:cs typeface="Manrope"/>
              </a:rPr>
              <a:t>Piers &amp; lifts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AF9F36-DAC6-42A9-9E86-5E24629687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4fc84b50c4b57"/>
          <a:stretch xmlns:a="http://schemas.openxmlformats.org/drawingml/2006/main"/>
        </p:blipFill>
        <p:spPr>
          <a:xfrm xmlns:a="http://schemas.openxmlformats.org/drawingml/2006/main">
            <a:off x="5238750" y="5088996"/>
            <a:ext cx="1047750" cy="651933"/>
          </a:xfrm>
          <a:prstGeom xmlns:a="http://schemas.openxmlformats.org/drawingml/2006/main" prst="rect">
            <a:avLst/>
          </a:prstGeom>
        </p:spPr>
      </p:pic>
      <p:sp>
        <p:nvSpPr>
          <p:cNvPr id="19" name="Boat care &amp; storage">
            <a:extLst xmlns:a="http://schemas.openxmlformats.org/drawingml/2006/main">
              <a:ext uri="{FF2B5EF4-FFF2-40B4-BE49-F238E27FC236}">
                <a16:creationId xmlns:a16="http://schemas.microsoft.com/office/drawing/2014/main" id="{E84A3E28-C0F4-466E-AE37-621CF430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838825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0A2430"/>
                </a:solidFill>
                <a:latin typeface="Manrope"/>
                <a:ea typeface="Manrope"/>
                <a:cs typeface="Manrope"/>
              </a:rPr>
              <a:t>Boat care &amp; storage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9B5368-E3CC-4BBB-97BE-0879917279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2d5c57c2f4ea8"/>
          <a:stretch xmlns:a="http://schemas.openxmlformats.org/drawingml/2006/main"/>
        </p:blipFill>
        <p:spPr>
          <a:xfrm xmlns:a="http://schemas.openxmlformats.org/drawingml/2006/main">
            <a:off x="7524750" y="5088996"/>
            <a:ext cx="1047750" cy="651933"/>
          </a:xfrm>
          <a:prstGeom xmlns:a="http://schemas.openxmlformats.org/drawingml/2006/main" prst="rect">
            <a:avLst/>
          </a:prstGeom>
        </p:spPr>
      </p:pic>
      <p:sp>
        <p:nvSpPr>
          <p:cNvPr id="21" name="Lawn care">
            <a:extLst xmlns:a="http://schemas.openxmlformats.org/drawingml/2006/main">
              <a:ext uri="{FF2B5EF4-FFF2-40B4-BE49-F238E27FC236}">
                <a16:creationId xmlns:a16="http://schemas.microsoft.com/office/drawing/2014/main" id="{8CB3505D-501A-4B56-BC4B-2F748A06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38825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0A2430"/>
                </a:solidFill>
                <a:latin typeface="Manrope"/>
                <a:ea typeface="Manrope"/>
                <a:cs typeface="Manrope"/>
              </a:rPr>
              <a:t>Lawn care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07FD89-657A-4633-AB35-49A379B952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3a60b37ab481e"/>
          <a:stretch xmlns:a="http://schemas.openxmlformats.org/drawingml/2006/main"/>
        </p:blipFill>
        <p:spPr>
          <a:xfrm xmlns:a="http://schemas.openxmlformats.org/drawingml/2006/main">
            <a:off x="9810750" y="5088996"/>
            <a:ext cx="1047750" cy="651933"/>
          </a:xfrm>
          <a:prstGeom xmlns:a="http://schemas.openxmlformats.org/drawingml/2006/main" prst="rect">
            <a:avLst/>
          </a:prstGeom>
        </p:spPr>
      </p:pic>
      <p:sp>
        <p:nvSpPr>
          <p:cNvPr id="23" name="Housekeeping">
            <a:extLst xmlns:a="http://schemas.openxmlformats.org/drawingml/2006/main">
              <a:ext uri="{FF2B5EF4-FFF2-40B4-BE49-F238E27FC236}">
                <a16:creationId xmlns:a16="http://schemas.microsoft.com/office/drawing/2014/main" id="{3EDA4B55-9147-4B04-8C71-185E0F5F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838825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0A2430"/>
                </a:solidFill>
                <a:latin typeface="Manrope"/>
                <a:ea typeface="Manrope"/>
                <a:cs typeface="Manrope"/>
              </a:rPr>
              <a:t>Housekeeping</a:t>
            </a:r>
          </a:p>
        </p:txBody>
      </p:sp>
      <p:sp>
        <p:nvSpPr>
          <p:cNvPr id="24" name="Big Long, Pretty &amp; Big Turkey Lakes · Av">
            <a:extLst xmlns:a="http://schemas.openxmlformats.org/drawingml/2006/main">
              <a:ext uri="{FF2B5EF4-FFF2-40B4-BE49-F238E27FC236}">
                <a16:creationId xmlns:a16="http://schemas.microsoft.com/office/drawing/2014/main" id="{5073004D-8BFD-4FE8-B542-F61F7DC2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5D7681"/>
                </a:solidFill>
                <a:latin typeface="Manrope"/>
                <a:ea typeface="Manrope"/>
                <a:cs typeface="Manrope"/>
              </a:rPr>
              <a:t>Big Long, Pretty &amp; Big Turkey Lakes · Availability varies; some requests await a crew quote.</a:t>
            </a:r>
          </a:p>
        </p:txBody>
      </p:sp>
    </p:spTree>
    <p:extLst>
      <p:ext uri="{BB962C8B-B14F-4D97-AF65-F5344CB8AC3E}">
        <p14:creationId xmlns:p14="http://schemas.microsoft.com/office/powerpoint/2010/main" val="18358388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36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D0A3F-3649-4AA5-BF4B-4207AF82F9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86c9aacfa4a78"/>
          <a:stretch xmlns:a="http://schemas.openxmlformats.org/drawingml/2006/main"/>
        </p:blipFill>
        <p:spPr>
          <a:xfrm xmlns:a="http://schemas.openxmlformats.org/drawingml/2006/main">
            <a:off x="6477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Lake">
            <a:extLst xmlns:a="http://schemas.openxmlformats.org/drawingml/2006/main">
              <a:ext uri="{FF2B5EF4-FFF2-40B4-BE49-F238E27FC236}">
                <a16:creationId xmlns:a16="http://schemas.microsoft.com/office/drawing/2014/main" id="{EB9C3470-2E77-4B17-8928-7315085D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rPr>
              <a:t>Lake</a:t>
            </a:r>
          </a:p>
        </p:txBody>
      </p:sp>
      <p:sp>
        <p:nvSpPr>
          <p:cNvPr id="3" name="Life">
            <a:extLst xmlns:a="http://schemas.openxmlformats.org/drawingml/2006/main">
              <a:ext uri="{FF2B5EF4-FFF2-40B4-BE49-F238E27FC236}">
                <a16:creationId xmlns:a16="http://schemas.microsoft.com/office/drawing/2014/main" id="{F4B2CDD6-DD5E-4725-A073-CFF18F05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8150"/>
            <a:ext cx="638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rPr>
              <a:t>Life</a:t>
            </a:r>
          </a:p>
        </p:txBody>
      </p:sp>
      <p:sp>
        <p:nvSpPr>
          <p:cNvPr id="4" name="See LakeLife at work">
            <a:extLst xmlns:a="http://schemas.openxmlformats.org/drawingml/2006/main">
              <a:ext uri="{FF2B5EF4-FFF2-40B4-BE49-F238E27FC236}">
                <a16:creationId xmlns:a16="http://schemas.microsoft.com/office/drawing/2014/main" id="{FD758378-5346-44CA-B921-D7B23979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02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defPPr>
          </a:lstStyle>
          <a:p xmlns:a="http://schemas.openxmlformats.org/drawingml/2006/main">
            <a:pPr>
              <a:defRPr sz="502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502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rPr>
              <a:t>See LakeLife at work</a:t>
            </a:r>
          </a:p>
        </p:txBody>
      </p:sp>
      <p:sp>
        <p:nvSpPr>
          <p:cNvPr id="5" name="Start with what takes the most chasing.">
            <a:extLst xmlns:a="http://schemas.openxmlformats.org/drawingml/2006/main">
              <a:ext uri="{FF2B5EF4-FFF2-40B4-BE49-F238E27FC236}">
                <a16:creationId xmlns:a16="http://schemas.microsoft.com/office/drawing/2014/main" id="{5032B348-F75E-4768-BAEF-1483D514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BFE3E8"/>
                </a:solidFill>
                <a:latin typeface="Manrope"/>
                <a:ea typeface="Manrope"/>
                <a:cs typeface="Manrope"/>
              </a:rPr>
              <a:t>Start with what takes the most chasing.</a:t>
            </a:r>
          </a:p>
        </p:txBody>
      </p:sp>
      <p:sp>
        <p:nvSpPr>
          <p:cNvPr id="6" name="PARK OWNERS">
            <a:extLst xmlns:a="http://schemas.openxmlformats.org/drawingml/2006/main">
              <a:ext uri="{FF2B5EF4-FFF2-40B4-BE49-F238E27FC236}">
                <a16:creationId xmlns:a16="http://schemas.microsoft.com/office/drawing/2014/main" id="{DE38CFE1-072F-4A65-8DD4-AD756C83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E9B44C"/>
                </a:solidFill>
                <a:latin typeface="Manrope"/>
                <a:ea typeface="Manrope"/>
                <a:cs typeface="Manrope"/>
              </a:rPr>
              <a:t>PARK OWNERS</a:t>
            </a:r>
          </a:p>
        </p:txBody>
      </p:sp>
      <p:sp>
        <p:nvSpPr>
          <p:cNvPr id="7" name="Ask for a walkthrough">
            <a:extLst xmlns:a="http://schemas.openxmlformats.org/drawingml/2006/main">
              <a:ext uri="{FF2B5EF4-FFF2-40B4-BE49-F238E27FC236}">
                <a16:creationId xmlns:a16="http://schemas.microsoft.com/office/drawing/2014/main" id="{04254D91-9EA8-4DCA-BFC9-9E7F9C04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5143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rPr>
              <a:t>Ask for a walkthrough</a:t>
            </a:r>
          </a:p>
        </p:txBody>
      </p:sp>
      <p:sp>
        <p:nvSpPr>
          <p:cNvPr id="8" name="Tell us about your lots and the work&#10;you">
            <a:extLst xmlns:a="http://schemas.openxmlformats.org/drawingml/2006/main">
              <a:ext uri="{FF2B5EF4-FFF2-40B4-BE49-F238E27FC236}">
                <a16:creationId xmlns:a16="http://schemas.microsoft.com/office/drawing/2014/main" id="{EAC79B9F-A9CC-407C-95D4-68DC228D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BFE3E8"/>
                </a:solidFill>
                <a:latin typeface="Manrope"/>
                <a:ea typeface="Manrope"/>
                <a:cs typeface="Manrope"/>
              </a:rPr>
              <a:t>Tell us about your lots and the work</a:t>
            </a:r>
          </a:p>
          <a:p xmlns:a="http://schemas.openxmlformats.org/drawingml/2006/main">
            <a: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BFE3E8"/>
                </a:solidFill>
                <a:latin typeface="Manrope"/>
                <a:ea typeface="Manrope"/>
                <a:cs typeface="Manrope"/>
              </a:rPr>
              <a:t>you need. We’ll review setup with you.</a:t>
            </a:r>
          </a:p>
        </p:txBody>
      </p:sp>
      <p:sp>
        <p:nvSpPr>
          <p:cNvPr id="9" name="HOMEOWNERS">
            <a:extLst xmlns:a="http://schemas.openxmlformats.org/drawingml/2006/main">
              <a:ext uri="{FF2B5EF4-FFF2-40B4-BE49-F238E27FC236}">
                <a16:creationId xmlns:a16="http://schemas.microsoft.com/office/drawing/2014/main" id="{39E49BC6-9881-4760-9803-009161E8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432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E9B44C"/>
                </a:solidFill>
                <a:latin typeface="Manrope"/>
                <a:ea typeface="Manrope"/>
                <a:cs typeface="Manrope"/>
              </a:rPr>
              <a:t>HOMEOWNERS</a:t>
            </a:r>
          </a:p>
        </p:txBody>
      </p:sp>
      <p:sp>
        <p:nvSpPr>
          <p:cNvPr id="10" name="Choose your first service">
            <a:extLst xmlns:a="http://schemas.openxmlformats.org/drawingml/2006/main">
              <a:ext uri="{FF2B5EF4-FFF2-40B4-BE49-F238E27FC236}">
                <a16:creationId xmlns:a16="http://schemas.microsoft.com/office/drawing/2014/main" id="{6F168ABA-E5E9-463A-9EAC-B680596B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81425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rPr>
              <a:t>Choose your first service</a:t>
            </a:r>
          </a:p>
        </p:txBody>
      </p:sp>
      <p:sp>
        <p:nvSpPr>
          <p:cNvPr id="11" name="Review the service, pricing status&#10;and l">
            <a:extLst xmlns:a="http://schemas.openxmlformats.org/drawingml/2006/main">
              <a:ext uri="{FF2B5EF4-FFF2-40B4-BE49-F238E27FC236}">
                <a16:creationId xmlns:a16="http://schemas.microsoft.com/office/drawing/2014/main" id="{D28F80C3-B53B-4EC4-993A-D821DBE2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338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BFE3E8"/>
                </a:solidFill>
                <a:latin typeface="Manrope"/>
                <a:ea typeface="Manrope"/>
                <a:cs typeface="Manrope"/>
              </a:rPr>
              <a:t>Review the service, pricing status</a:t>
            </a:r>
          </a:p>
          <a:p xmlns:a="http://schemas.openxmlformats.org/drawingml/2006/main">
            <a: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BFE3E8"/>
                </a:solidFill>
                <a:latin typeface="Manrope"/>
                <a:ea typeface="Manrope"/>
                <a:cs typeface="Manrope"/>
              </a:rPr>
              <a:t>and local availability.</a:t>
            </a:r>
          </a:p>
        </p:txBody>
      </p:sp>
      <p:sp>
        <p:nvSpPr>
          <p:cNvPr id="12" name="LakeLife.ai">
            <a:extLst xmlns:a="http://schemas.openxmlformats.org/drawingml/2006/main">
              <a:ext uri="{FF2B5EF4-FFF2-40B4-BE49-F238E27FC236}">
                <a16:creationId xmlns:a16="http://schemas.microsoft.com/office/drawing/2014/main" id="{5B76078A-7A51-4BE6-B69B-036E2372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>
                <a:hlinkClick xmlns:r="http://schemas.openxmlformats.org/officeDocument/2006/relationships" r:id="R563eee669ae94721"/>
              </a:rPr>
              <a:t>LakeLife.ai</a:t>
            </a:r>
          </a:p>
        </p:txBody>
      </p:sp>
      <p:sp>
        <p:nvSpPr>
          <p:cNvPr id="13" name="Park setup is guided. Local service avai">
            <a:extLst xmlns:a="http://schemas.openxmlformats.org/drawingml/2006/main">
              <a:ext uri="{FF2B5EF4-FFF2-40B4-BE49-F238E27FC236}">
                <a16:creationId xmlns:a16="http://schemas.microsoft.com/office/drawing/2014/main" id="{F93BF2F1-5481-46B8-B565-C080810B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64832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BFE3E8"/>
                </a:solidFill>
                <a:latin typeface="Manrope"/>
                <a:ea typeface="Manrope"/>
                <a:cs typeface="Manrope"/>
              </a:rPr>
              <a:t>Park setup is guided. Local service availability varies.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D1B73A-08DF-4891-9D66-C17F3EB50A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621e3cd4324bf5"/>
          <a:stretch xmlns:a="http://schemas.openxmlformats.org/drawingml/2006/main"/>
        </p:blipFill>
        <p:spPr>
          <a:xfrm xmlns:a="http://schemas.openxmlformats.org/drawingml/2006/main">
            <a:off x="0" y="5926138"/>
            <a:ext cx="12192000" cy="9302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5412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2026-10-18T01:38:50.4920000Z</dcterms:created>
  <dcterms:modified xsi:type="dcterms:W3CDTF">2026-10-18T01:38:50.4920000Z</dcterms:modified>
</coreProperties>
</file>